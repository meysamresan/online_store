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8" d="100"/>
          <a:sy n="108" d="100"/>
        </p:scale>
        <p:origin x="678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95269" y="1122363"/>
            <a:ext cx="9001462" cy="2387600"/>
          </a:xfrm>
        </p:spPr>
        <p:txBody>
          <a:bodyPr anchor="b">
            <a:normAutofit/>
          </a:bodyPr>
          <a:lstStyle>
            <a:lvl1pPr algn="ctr">
              <a:defRPr sz="48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95269" y="3602038"/>
            <a:ext cx="9001462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FAA5BC-A499-4F0E-A4BA-D72C4717E8D2}" type="datetimeFigureOut">
              <a:rPr lang="ru-RU" smtClean="0"/>
              <a:t>29.12.2020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89B77D-3E71-4A8D-9F83-FC1F7CFABF7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6396585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FAA5BC-A499-4F0E-A4BA-D72C4717E8D2}" type="datetimeFigureOut">
              <a:rPr lang="ru-RU" smtClean="0"/>
              <a:t>29.12.2020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89B77D-3E71-4A8D-9F83-FC1F7CFABF7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007437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29244" y="657226"/>
            <a:ext cx="9733512" cy="2852737"/>
          </a:xfrm>
        </p:spPr>
        <p:txBody>
          <a:bodyPr anchor="b">
            <a:normAutofit/>
          </a:bodyPr>
          <a:lstStyle>
            <a:lvl1pPr>
              <a:defRPr sz="34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29244" y="3602038"/>
            <a:ext cx="9733512" cy="1500187"/>
          </a:xfrm>
        </p:spPr>
        <p:txBody>
          <a:bodyPr/>
          <a:lstStyle>
            <a:lvl1pPr marL="0" indent="0" algn="ctr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FAA5BC-A499-4F0E-A4BA-D72C4717E8D2}" type="datetimeFigureOut">
              <a:rPr lang="ru-RU" smtClean="0"/>
              <a:t>29.12.2020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89B77D-3E71-4A8D-9F83-FC1F7CFABF7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2715391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1" cy="1326321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13795" y="2088319"/>
            <a:ext cx="5106004" cy="3702881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3403" y="2088319"/>
            <a:ext cx="5094154" cy="3702881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FAA5BC-A499-4F0E-A4BA-D72C4717E8D2}" type="datetimeFigureOut">
              <a:rPr lang="ru-RU" smtClean="0"/>
              <a:t>29.12.2020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89B77D-3E71-4A8D-9F83-FC1F7CFABF7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594664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1" cy="1325563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804" y="2088320"/>
            <a:ext cx="4879199" cy="823912"/>
          </a:xfrm>
        </p:spPr>
        <p:txBody>
          <a:bodyPr anchor="b"/>
          <a:lstStyle>
            <a:lvl1pPr marL="0" indent="0">
              <a:lnSpc>
                <a:spcPct val="100000"/>
              </a:lnSpc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13795" y="2912232"/>
            <a:ext cx="5107208" cy="287896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2003" y="2088320"/>
            <a:ext cx="4865554" cy="823912"/>
          </a:xfrm>
        </p:spPr>
        <p:txBody>
          <a:bodyPr anchor="b"/>
          <a:lstStyle>
            <a:lvl1pPr marL="0" indent="0">
              <a:lnSpc>
                <a:spcPct val="100000"/>
              </a:lnSpc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912232"/>
            <a:ext cx="5095357" cy="287896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FAA5BC-A499-4F0E-A4BA-D72C4717E8D2}" type="datetimeFigureOut">
              <a:rPr lang="ru-RU" smtClean="0"/>
              <a:t>29.12.2020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89B77D-3E71-4A8D-9F83-FC1F7CFABF7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2261314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FAA5BC-A499-4F0E-A4BA-D72C4717E8D2}" type="datetimeFigureOut">
              <a:rPr lang="ru-RU" smtClean="0"/>
              <a:t>29.12.2020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89B77D-3E71-4A8D-9F83-FC1F7CFABF7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0535620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FAA5BC-A499-4F0E-A4BA-D72C4717E8D2}" type="datetimeFigureOut">
              <a:rPr lang="ru-RU" smtClean="0"/>
              <a:t>29.12.2020</a:t>
            </a:fld>
            <a:endParaRPr lang="ru-R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89B77D-3E71-4A8D-9F83-FC1F7CFABF7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20220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7228" y="609600"/>
            <a:ext cx="3932237" cy="2362200"/>
          </a:xfrm>
        </p:spPr>
        <p:txBody>
          <a:bodyPr anchor="b">
            <a:normAutofit/>
          </a:bodyPr>
          <a:lstStyle>
            <a:lvl1pPr>
              <a:defRPr sz="28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78064" y="609600"/>
            <a:ext cx="6189492" cy="5181600"/>
          </a:xfrm>
        </p:spPr>
        <p:txBody>
          <a:bodyPr anchor="ctr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7228" y="2971800"/>
            <a:ext cx="3932237" cy="2819399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FAA5BC-A499-4F0E-A4BA-D72C4717E8D2}" type="datetimeFigureOut">
              <a:rPr lang="ru-RU" smtClean="0"/>
              <a:t>29.12.2020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89B77D-3E71-4A8D-9F83-FC1F7CFABF7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2002702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7227" y="609600"/>
            <a:ext cx="5929773" cy="2362200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24804" y="758881"/>
            <a:ext cx="3255356" cy="4883038"/>
          </a:xfrm>
          <a:noFill/>
          <a:ln w="1905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2971800"/>
            <a:ext cx="5934950" cy="2819400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FAA5BC-A499-4F0E-A4BA-D72C4717E8D2}" type="datetimeFigureOut">
              <a:rPr lang="ru-RU" smtClean="0"/>
              <a:t>29.12.2020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89B77D-3E71-4A8D-9F83-FC1F7CFABF7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659393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Панорамная фотография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806" y="4289372"/>
            <a:ext cx="10367564" cy="819355"/>
          </a:xfrm>
        </p:spPr>
        <p:txBody>
          <a:bodyPr anchor="b">
            <a:normAutofit/>
          </a:bodyPr>
          <a:lstStyle>
            <a:lvl1pPr>
              <a:defRPr sz="28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913806" y="621321"/>
            <a:ext cx="10367564" cy="3379735"/>
          </a:xfrm>
          <a:noFill/>
          <a:ln w="1905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5108728"/>
            <a:ext cx="10365998" cy="682472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FAA5BC-A499-4F0E-A4BA-D72C4717E8D2}" type="datetimeFigureOut">
              <a:rPr lang="ru-RU" smtClean="0"/>
              <a:t>29.12.2020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89B77D-3E71-4A8D-9F83-FC1F7CFABF7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3072992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Заголовок и подпис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3424859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4204820"/>
            <a:ext cx="10353761" cy="1592186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FAA5BC-A499-4F0E-A4BA-D72C4717E8D2}" type="datetimeFigureOut">
              <a:rPr lang="ru-RU" smtClean="0"/>
              <a:t>29.12.2020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89B77D-3E71-4A8D-9F83-FC1F7CFABF7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4271336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Цитата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600"/>
            <a:ext cx="9302752" cy="299290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610032"/>
            <a:ext cx="8752299" cy="426812"/>
          </a:xfrm>
        </p:spPr>
        <p:txBody>
          <a:bodyPr anchor="t">
            <a:normAutofit/>
          </a:bodyPr>
          <a:lstStyle>
            <a:lvl1pPr marL="0" indent="0" algn="r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204821"/>
            <a:ext cx="10353762" cy="1586380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FAA5BC-A499-4F0E-A4BA-D72C4717E8D2}" type="datetimeFigureOut">
              <a:rPr lang="ru-RU" smtClean="0"/>
              <a:t>29.12.2020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89B77D-3E71-4A8D-9F83-FC1F7CFABF75}" type="slidenum">
              <a:rPr lang="ru-RU" smtClean="0"/>
              <a:t>‹#›</a:t>
            </a:fld>
            <a:endParaRPr lang="ru-RU"/>
          </a:p>
        </p:txBody>
      </p:sp>
      <p:sp>
        <p:nvSpPr>
          <p:cNvPr id="11" name="TextBox 10"/>
          <p:cNvSpPr txBox="1"/>
          <p:nvPr/>
        </p:nvSpPr>
        <p:spPr>
          <a:xfrm>
            <a:off x="836612" y="73524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57956" y="2972093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5047873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Карточка имен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806" y="2126942"/>
            <a:ext cx="10355327" cy="251183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650556"/>
            <a:ext cx="10353763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FAA5BC-A499-4F0E-A4BA-D72C4717E8D2}" type="datetimeFigureOut">
              <a:rPr lang="ru-RU" smtClean="0"/>
              <a:t>29.12.2020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89B77D-3E71-4A8D-9F83-FC1F7CFABF7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3665163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Три колонк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913794" y="609600"/>
            <a:ext cx="10353762" cy="1325563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913794" y="2088319"/>
            <a:ext cx="3298956" cy="823305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913794" y="2911624"/>
            <a:ext cx="3298956" cy="2879576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4878" y="2088320"/>
            <a:ext cx="3298558" cy="823304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444878" y="2911624"/>
            <a:ext cx="3299821" cy="2879576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298" y="2088320"/>
            <a:ext cx="3291211" cy="823304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976346" y="2911624"/>
            <a:ext cx="3291211" cy="2879576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FAA5BC-A499-4F0E-A4BA-D72C4717E8D2}" type="datetimeFigureOut">
              <a:rPr lang="ru-RU" smtClean="0"/>
              <a:t>29.12.2020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89B77D-3E71-4A8D-9F83-FC1F7CFABF7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7865231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Столбец с тремя рисункам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1325563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913795" y="4195899"/>
            <a:ext cx="3298955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092020" y="2298987"/>
            <a:ext cx="2940050" cy="1524000"/>
          </a:xfrm>
          <a:prstGeom prst="roundRect">
            <a:avLst>
              <a:gd name="adj" fmla="val 0"/>
            </a:avLst>
          </a:prstGeom>
          <a:noFill/>
          <a:ln w="14605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913795" y="4772161"/>
            <a:ext cx="3298955" cy="101903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2701" y="4195899"/>
            <a:ext cx="3298983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568996" y="2298987"/>
            <a:ext cx="2930525" cy="1524000"/>
          </a:xfrm>
          <a:prstGeom prst="roundRect">
            <a:avLst>
              <a:gd name="adj" fmla="val 0"/>
            </a:avLst>
          </a:prstGeom>
          <a:noFill/>
          <a:ln w="14605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41348" y="4772160"/>
            <a:ext cx="3300336" cy="101903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423" y="4195899"/>
            <a:ext cx="3289900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152803" y="2298987"/>
            <a:ext cx="2932113" cy="1524000"/>
          </a:xfrm>
          <a:prstGeom prst="roundRect">
            <a:avLst>
              <a:gd name="adj" fmla="val 0"/>
            </a:avLst>
          </a:prstGeom>
          <a:noFill/>
          <a:ln w="14605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73298" y="4772161"/>
            <a:ext cx="3294258" cy="1019037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FAA5BC-A499-4F0E-A4BA-D72C4717E8D2}" type="datetimeFigureOut">
              <a:rPr lang="ru-RU" smtClean="0"/>
              <a:t>29.12.2020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89B77D-3E71-4A8D-9F83-FC1F7CFABF7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7242185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FAA5BC-A499-4F0E-A4BA-D72C4717E8D2}" type="datetimeFigureOut">
              <a:rPr lang="ru-RU" smtClean="0"/>
              <a:t>29.12.2020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89B77D-3E71-4A8D-9F83-FC1F7CFABF7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1616676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609599"/>
            <a:ext cx="2542657" cy="5181601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13794" y="609599"/>
            <a:ext cx="7658705" cy="5181601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FAA5BC-A499-4F0E-A4BA-D72C4717E8D2}" type="datetimeFigureOut">
              <a:rPr lang="ru-RU" smtClean="0"/>
              <a:t>29.12.2020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89B77D-3E71-4A8D-9F83-FC1F7CFABF7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3730335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1" cy="132632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95" y="2096064"/>
            <a:ext cx="10353762" cy="369513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78736" y="58832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5FAA5BC-A499-4F0E-A4BA-D72C4717E8D2}" type="datetimeFigureOut">
              <a:rPr lang="ru-RU" smtClean="0"/>
              <a:t>29.12.2020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13794" y="5883275"/>
            <a:ext cx="667286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1" y="5883275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989B77D-3E71-4A8D-9F83-FC1F7CFABF7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38410814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3400" b="1" i="0" kern="1200" cap="all">
          <a:solidFill>
            <a:schemeClr val="tx1"/>
          </a:solidFill>
          <a:effectLst>
            <a:outerShdw blurRad="50800" dist="63500" dir="2700000" algn="tl" rotWithShape="0">
              <a:srgbClr val="000000">
                <a:alpha val="48000"/>
              </a:srgbClr>
            </a:outerShdw>
          </a:effectLst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2.png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2D81B66-E6CF-4970-B14A-0725551B43D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62104" y="1260629"/>
            <a:ext cx="9001462" cy="3208122"/>
          </a:xfrm>
        </p:spPr>
        <p:txBody>
          <a:bodyPr>
            <a:noAutofit/>
          </a:bodyPr>
          <a:lstStyle/>
          <a:p>
            <a:r>
              <a:rPr lang="ru-RU" sz="2400" dirty="0"/>
              <a:t>ФГБОУ ВО </a:t>
            </a:r>
            <a:r>
              <a:rPr lang="ru-RU" sz="2400" cap="none" dirty="0"/>
              <a:t>«Кубанский государственный технологический университет» (ФГБОУ </a:t>
            </a:r>
            <a:r>
              <a:rPr lang="ru-RU" sz="2400" cap="none" dirty="0" err="1"/>
              <a:t>ВО«КубГТУ</a:t>
            </a:r>
            <a:r>
              <a:rPr lang="ru-RU" sz="2400" cap="none" dirty="0"/>
              <a:t>»)</a:t>
            </a:r>
            <a:br>
              <a:rPr lang="ru-RU" sz="2400" cap="none" dirty="0"/>
            </a:br>
            <a:br>
              <a:rPr lang="ru-RU" sz="2400" cap="none" dirty="0"/>
            </a:br>
            <a:r>
              <a:rPr lang="ru-RU" sz="2400" cap="none" dirty="0"/>
              <a:t>Институт компьютерных систем и информационной безопасности.</a:t>
            </a:r>
            <a:br>
              <a:rPr lang="ru-RU" sz="2400" cap="none" dirty="0"/>
            </a:br>
            <a:r>
              <a:rPr lang="ru-RU" sz="2400" cap="none" dirty="0"/>
              <a:t>Кафедра информационных систем и программирования</a:t>
            </a:r>
            <a:br>
              <a:rPr lang="ru-RU" sz="2400" cap="none" dirty="0"/>
            </a:br>
            <a:br>
              <a:rPr lang="ru-RU" sz="2400" cap="none" dirty="0"/>
            </a:br>
            <a:r>
              <a:rPr lang="ru-RU" sz="2400" cap="none" dirty="0"/>
              <a:t>Проектирование и реализация интернет-магазина.</a:t>
            </a:r>
            <a:endParaRPr lang="ru-RU" sz="2400" dirty="0"/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61E9598C-243A-4730-B98D-C51A2018F00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953553" y="5791447"/>
            <a:ext cx="9001462" cy="1655762"/>
          </a:xfrm>
        </p:spPr>
        <p:txBody>
          <a:bodyPr/>
          <a:lstStyle/>
          <a:p>
            <a:pPr algn="r"/>
            <a:r>
              <a:rPr lang="ru-RU" sz="1800" dirty="0"/>
              <a:t>Курсовой проект выполнили студенты группы 19-КБ-ПР2</a:t>
            </a:r>
            <a:br>
              <a:rPr lang="ru-RU" sz="1800" dirty="0"/>
            </a:br>
            <a:r>
              <a:rPr lang="ru-RU" sz="1800" dirty="0"/>
              <a:t>Баулина Ангелина Р. и </a:t>
            </a:r>
            <a:r>
              <a:rPr lang="ru-RU" sz="1800" dirty="0" err="1"/>
              <a:t>Ресан</a:t>
            </a:r>
            <a:r>
              <a:rPr lang="ru-RU" sz="1800" dirty="0"/>
              <a:t> </a:t>
            </a:r>
            <a:r>
              <a:rPr lang="ru-RU" sz="1800" dirty="0" err="1"/>
              <a:t>Мейсам</a:t>
            </a:r>
            <a:r>
              <a:rPr lang="ru-RU" sz="1800" dirty="0"/>
              <a:t> Т.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59048033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3FF9E3B-9351-40FD-B967-F2EA339E68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Цель проекта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51A481AD-B8C0-497D-B02E-4676699EE79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3795" y="1704513"/>
            <a:ext cx="10353762" cy="4086687"/>
          </a:xfrm>
        </p:spPr>
        <p:txBody>
          <a:bodyPr/>
          <a:lstStyle/>
          <a:p>
            <a:pPr marL="0" indent="0">
              <a:buNone/>
            </a:pPr>
            <a:r>
              <a:rPr lang="ru-RU" sz="2400" dirty="0">
                <a:ln>
                  <a:noFill/>
                </a:ln>
                <a:effectLst/>
                <a:latin typeface="Times New Roman" panose="02020603050405020304" pitchFamily="18" charset="0"/>
                <a:ea typeface="Arial Unicode MS"/>
                <a:cs typeface="Arial Unicode MS"/>
              </a:rPr>
              <a:t>Целью проекта является разработка онлайн магазина с использованием диаграмм, в полной мере описывающих как внутреннее устройство исследуемой системы, так и всевозможные взаимодействия между её компонентами.</a:t>
            </a:r>
          </a:p>
          <a:p>
            <a:pPr marL="0" indent="0">
              <a:buNone/>
            </a:pP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52963282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499B683-2B84-422C-9421-F6C9FC0356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Диаграмма </a:t>
            </a:r>
            <a:r>
              <a:rPr lang="ru-RU" dirty="0" err="1"/>
              <a:t>Ганта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B84A5ADE-8688-458A-913B-2C639E6B580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sz="1800" dirty="0" err="1">
                <a:effectLst/>
                <a:latin typeface="Times New Roman" panose="02020603050405020304" pitchFamily="18" charset="0"/>
                <a:ea typeface="Arial Unicode MS"/>
              </a:rPr>
              <a:t>Диаграмма</a:t>
            </a:r>
            <a:r>
              <a:rPr lang="en-US" sz="1800" dirty="0">
                <a:effectLst/>
                <a:latin typeface="Times New Roman" panose="02020603050405020304" pitchFamily="18" charset="0"/>
                <a:ea typeface="Arial Unicode MS"/>
              </a:rPr>
              <a:t>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Arial Unicode MS"/>
              </a:rPr>
              <a:t>Ганта</a:t>
            </a:r>
            <a:r>
              <a:rPr lang="en-US" sz="1800" dirty="0">
                <a:effectLst/>
                <a:latin typeface="Times New Roman" panose="02020603050405020304" pitchFamily="18" charset="0"/>
                <a:ea typeface="Arial Unicode MS"/>
              </a:rPr>
              <a:t> —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Arial Unicode MS"/>
              </a:rPr>
              <a:t>это</a:t>
            </a:r>
            <a:r>
              <a:rPr lang="en-US" sz="1800" dirty="0">
                <a:effectLst/>
                <a:latin typeface="Times New Roman" panose="02020603050405020304" pitchFamily="18" charset="0"/>
                <a:ea typeface="Arial Unicode MS"/>
              </a:rPr>
              <a:t>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Arial Unicode MS"/>
              </a:rPr>
              <a:t>тип</a:t>
            </a:r>
            <a:r>
              <a:rPr lang="en-US" sz="1800" dirty="0">
                <a:effectLst/>
                <a:latin typeface="Times New Roman" panose="02020603050405020304" pitchFamily="18" charset="0"/>
                <a:ea typeface="Arial Unicode MS"/>
              </a:rPr>
              <a:t>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Arial Unicode MS"/>
              </a:rPr>
              <a:t>столбчатых</a:t>
            </a:r>
            <a:r>
              <a:rPr lang="en-US" sz="1800" dirty="0">
                <a:effectLst/>
                <a:latin typeface="Times New Roman" panose="02020603050405020304" pitchFamily="18" charset="0"/>
                <a:ea typeface="Arial Unicode MS"/>
              </a:rPr>
              <a:t>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Arial Unicode MS"/>
              </a:rPr>
              <a:t>диаграмм</a:t>
            </a:r>
            <a:r>
              <a:rPr lang="en-US" sz="1800" dirty="0">
                <a:effectLst/>
                <a:latin typeface="Times New Roman" panose="02020603050405020304" pitchFamily="18" charset="0"/>
                <a:ea typeface="Arial Unicode MS"/>
              </a:rPr>
              <a:t> (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Arial Unicode MS"/>
              </a:rPr>
              <a:t>гистограмм</a:t>
            </a:r>
            <a:r>
              <a:rPr lang="en-US" sz="1800" dirty="0">
                <a:effectLst/>
                <a:latin typeface="Times New Roman" panose="02020603050405020304" pitchFamily="18" charset="0"/>
                <a:ea typeface="Arial Unicode MS"/>
              </a:rPr>
              <a:t>),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Arial Unicode MS"/>
              </a:rPr>
              <a:t>который</a:t>
            </a:r>
            <a:r>
              <a:rPr lang="en-US" sz="1800" dirty="0">
                <a:effectLst/>
                <a:latin typeface="Times New Roman" panose="02020603050405020304" pitchFamily="18" charset="0"/>
                <a:ea typeface="Arial Unicode MS"/>
              </a:rPr>
              <a:t>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Arial Unicode MS"/>
              </a:rPr>
              <a:t>используется</a:t>
            </a:r>
            <a:r>
              <a:rPr lang="en-US" sz="1800" dirty="0">
                <a:effectLst/>
                <a:latin typeface="Times New Roman" panose="02020603050405020304" pitchFamily="18" charset="0"/>
                <a:ea typeface="Arial Unicode MS"/>
              </a:rPr>
              <a:t>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Arial Unicode MS"/>
              </a:rPr>
              <a:t>для</a:t>
            </a:r>
            <a:r>
              <a:rPr lang="en-US" sz="1800" dirty="0">
                <a:effectLst/>
                <a:latin typeface="Times New Roman" panose="02020603050405020304" pitchFamily="18" charset="0"/>
                <a:ea typeface="Arial Unicode MS"/>
              </a:rPr>
              <a:t>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Arial Unicode MS"/>
              </a:rPr>
              <a:t>иллюстрации</a:t>
            </a:r>
            <a:r>
              <a:rPr lang="en-US" sz="1800" dirty="0">
                <a:effectLst/>
                <a:latin typeface="Times New Roman" panose="02020603050405020304" pitchFamily="18" charset="0"/>
                <a:ea typeface="Arial Unicode MS"/>
              </a:rPr>
              <a:t>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Arial Unicode MS"/>
              </a:rPr>
              <a:t>плана</a:t>
            </a:r>
            <a:r>
              <a:rPr lang="en-US" sz="1800" dirty="0">
                <a:effectLst/>
                <a:latin typeface="Times New Roman" panose="02020603050405020304" pitchFamily="18" charset="0"/>
                <a:ea typeface="Arial Unicode MS"/>
              </a:rPr>
              <a:t>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Arial Unicode MS"/>
              </a:rPr>
              <a:t>или</a:t>
            </a:r>
            <a:r>
              <a:rPr lang="en-US" sz="1800" dirty="0">
                <a:effectLst/>
                <a:latin typeface="Times New Roman" panose="02020603050405020304" pitchFamily="18" charset="0"/>
                <a:ea typeface="Arial Unicode MS"/>
              </a:rPr>
              <a:t>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Arial Unicode MS"/>
              </a:rPr>
              <a:t>графика</a:t>
            </a:r>
            <a:r>
              <a:rPr lang="en-US" sz="1800" dirty="0">
                <a:effectLst/>
                <a:latin typeface="Times New Roman" panose="02020603050405020304" pitchFamily="18" charset="0"/>
                <a:ea typeface="Arial Unicode MS"/>
              </a:rPr>
              <a:t>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Arial Unicode MS"/>
              </a:rPr>
              <a:t>работ</a:t>
            </a:r>
            <a:r>
              <a:rPr lang="en-US" sz="1800" dirty="0">
                <a:effectLst/>
                <a:latin typeface="Times New Roman" panose="02020603050405020304" pitchFamily="18" charset="0"/>
                <a:ea typeface="Arial Unicode MS"/>
              </a:rPr>
              <a:t>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Arial Unicode MS"/>
              </a:rPr>
              <a:t>по</a:t>
            </a:r>
            <a:r>
              <a:rPr lang="en-US" sz="1800" dirty="0">
                <a:effectLst/>
                <a:latin typeface="Times New Roman" panose="02020603050405020304" pitchFamily="18" charset="0"/>
                <a:ea typeface="Arial Unicode MS"/>
              </a:rPr>
              <a:t>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Arial Unicode MS"/>
              </a:rPr>
              <a:t>проекту</a:t>
            </a:r>
            <a:endParaRPr lang="ru-RU" dirty="0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BBB5E225-0AC2-4833-A29E-CFD0F671A22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8337" y="3158131"/>
            <a:ext cx="11435325" cy="18641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009672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18000"/>
                <a:satMod val="160000"/>
                <a:lumMod val="28000"/>
              </a:schemeClr>
              <a:schemeClr val="bg2">
                <a:tint val="95000"/>
                <a:satMod val="160000"/>
                <a:lumMod val="116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27281E2-4FCB-4DEE-9189-EFA0F234ED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94" y="4819137"/>
            <a:ext cx="10353761" cy="940354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3600"/>
              <a:t>Сетевая диаграмма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C16B6F3D-AE26-407F-9FAA-85E9AA15065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3794" y="5759492"/>
            <a:ext cx="10353761" cy="501268"/>
          </a:xfrm>
        </p:spPr>
        <p:txBody>
          <a:bodyPr vert="horz" lIns="91440" tIns="45720" rIns="91440" bIns="45720" rtlCol="0">
            <a:normAutofit/>
          </a:bodyPr>
          <a:lstStyle/>
          <a:p>
            <a:pPr marL="0" indent="0" algn="ctr">
              <a:buNone/>
            </a:pPr>
            <a:r>
              <a:rPr lang="en-US" sz="1800"/>
              <a:t>Сетевые диаграммы отображают зависимости между всеми этапами проекта.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543CE0DD-51B8-4753-B418-53B3686D8B3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3468" y="796154"/>
            <a:ext cx="10896714" cy="36231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535774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5B3AE8A-94ED-4B02-A1F8-40C4DA9A9D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модели </a:t>
            </a:r>
            <a:r>
              <a:rPr lang="ru-RU" dirty="0" err="1"/>
              <a:t>As-Is</a:t>
            </a:r>
            <a:r>
              <a:rPr lang="ru-RU" dirty="0"/>
              <a:t> в стандарте IDEF0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49E3427E-1E71-4C15-B21A-AD2F7E65C98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sz="2400" dirty="0" err="1">
                <a:effectLst/>
                <a:latin typeface="Times New Roman" panose="02020603050405020304" pitchFamily="18" charset="0"/>
                <a:ea typeface="Arial Unicode MS"/>
              </a:rPr>
              <a:t>Диаграмма</a:t>
            </a:r>
            <a:r>
              <a:rPr lang="en-US" sz="2400" dirty="0">
                <a:effectLst/>
                <a:latin typeface="Times New Roman" panose="02020603050405020304" pitchFamily="18" charset="0"/>
                <a:ea typeface="Arial Unicode MS"/>
              </a:rPr>
              <a:t> As-Is – </a:t>
            </a:r>
            <a:r>
              <a:rPr lang="en-US" sz="2400" dirty="0" err="1">
                <a:effectLst/>
                <a:latin typeface="Times New Roman" panose="02020603050405020304" pitchFamily="18" charset="0"/>
                <a:ea typeface="Arial Unicode MS"/>
              </a:rPr>
              <a:t>это</a:t>
            </a:r>
            <a:r>
              <a:rPr lang="en-US" sz="2400" dirty="0">
                <a:effectLst/>
                <a:latin typeface="Times New Roman" panose="02020603050405020304" pitchFamily="18" charset="0"/>
                <a:ea typeface="Arial Unicode MS"/>
              </a:rPr>
              <a:t> </a:t>
            </a:r>
            <a:r>
              <a:rPr lang="en-US" sz="2400" dirty="0" err="1">
                <a:effectLst/>
                <a:latin typeface="Times New Roman" panose="02020603050405020304" pitchFamily="18" charset="0"/>
                <a:ea typeface="Arial Unicode MS"/>
              </a:rPr>
              <a:t>функциональная</a:t>
            </a:r>
            <a:r>
              <a:rPr lang="en-US" sz="2400" dirty="0">
                <a:effectLst/>
                <a:latin typeface="Times New Roman" panose="02020603050405020304" pitchFamily="18" charset="0"/>
                <a:ea typeface="Arial Unicode MS"/>
              </a:rPr>
              <a:t> </a:t>
            </a:r>
            <a:r>
              <a:rPr lang="en-US" sz="2400" dirty="0" err="1">
                <a:effectLst/>
                <a:latin typeface="Times New Roman" panose="02020603050405020304" pitchFamily="18" charset="0"/>
                <a:ea typeface="Arial Unicode MS"/>
              </a:rPr>
              <a:t>модель</a:t>
            </a:r>
            <a:r>
              <a:rPr lang="en-US" sz="2400" dirty="0">
                <a:effectLst/>
                <a:latin typeface="Times New Roman" panose="02020603050405020304" pitchFamily="18" charset="0"/>
                <a:ea typeface="Arial Unicode MS"/>
              </a:rPr>
              <a:t> </a:t>
            </a:r>
            <a:r>
              <a:rPr lang="en-US" sz="2400" dirty="0" err="1">
                <a:effectLst/>
                <a:latin typeface="Times New Roman" panose="02020603050405020304" pitchFamily="18" charset="0"/>
                <a:ea typeface="Arial Unicode MS"/>
              </a:rPr>
              <a:t>системы</a:t>
            </a:r>
            <a:r>
              <a:rPr lang="en-US" sz="2400" dirty="0">
                <a:effectLst/>
                <a:latin typeface="Times New Roman" panose="02020603050405020304" pitchFamily="18" charset="0"/>
                <a:ea typeface="Arial Unicode MS"/>
              </a:rPr>
              <a:t> «</a:t>
            </a:r>
            <a:r>
              <a:rPr lang="en-US" sz="2400" dirty="0" err="1">
                <a:effectLst/>
                <a:latin typeface="Times New Roman" panose="02020603050405020304" pitchFamily="18" charset="0"/>
                <a:ea typeface="Arial Unicode MS"/>
              </a:rPr>
              <a:t>как</a:t>
            </a:r>
            <a:r>
              <a:rPr lang="en-US" sz="2400" dirty="0">
                <a:effectLst/>
                <a:latin typeface="Times New Roman" panose="02020603050405020304" pitchFamily="18" charset="0"/>
                <a:ea typeface="Arial Unicode MS"/>
              </a:rPr>
              <a:t> </a:t>
            </a:r>
            <a:r>
              <a:rPr lang="en-US" sz="2400" dirty="0" err="1">
                <a:effectLst/>
                <a:latin typeface="Times New Roman" panose="02020603050405020304" pitchFamily="18" charset="0"/>
                <a:ea typeface="Arial Unicode MS"/>
              </a:rPr>
              <a:t>есть</a:t>
            </a:r>
            <a:r>
              <a:rPr lang="en-US" sz="2400" dirty="0">
                <a:effectLst/>
                <a:latin typeface="Times New Roman" panose="02020603050405020304" pitchFamily="18" charset="0"/>
                <a:ea typeface="Arial Unicode MS"/>
              </a:rPr>
              <a:t>», </a:t>
            </a:r>
            <a:r>
              <a:rPr lang="en-US" sz="2400" dirty="0" err="1">
                <a:effectLst/>
                <a:latin typeface="Times New Roman" panose="02020603050405020304" pitchFamily="18" charset="0"/>
                <a:ea typeface="Arial Unicode MS"/>
              </a:rPr>
              <a:t>позволяющая</a:t>
            </a:r>
            <a:r>
              <a:rPr lang="en-US" sz="2400" dirty="0">
                <a:effectLst/>
                <a:latin typeface="Times New Roman" panose="02020603050405020304" pitchFamily="18" charset="0"/>
                <a:ea typeface="Arial Unicode MS"/>
              </a:rPr>
              <a:t> </a:t>
            </a:r>
            <a:r>
              <a:rPr lang="en-US" sz="2400" dirty="0" err="1">
                <a:effectLst/>
                <a:latin typeface="Times New Roman" panose="02020603050405020304" pitchFamily="18" charset="0"/>
                <a:ea typeface="Arial Unicode MS"/>
              </a:rPr>
              <a:t>узнать</a:t>
            </a:r>
            <a:r>
              <a:rPr lang="en-US" sz="2400" dirty="0">
                <a:effectLst/>
                <a:latin typeface="Times New Roman" panose="02020603050405020304" pitchFamily="18" charset="0"/>
                <a:ea typeface="Arial Unicode MS"/>
              </a:rPr>
              <a:t> </a:t>
            </a:r>
            <a:r>
              <a:rPr lang="en-US" sz="2400" dirty="0" err="1">
                <a:effectLst/>
                <a:latin typeface="Times New Roman" panose="02020603050405020304" pitchFamily="18" charset="0"/>
                <a:ea typeface="Arial Unicode MS"/>
              </a:rPr>
              <a:t>где</a:t>
            </a:r>
            <a:r>
              <a:rPr lang="en-US" sz="2400" dirty="0">
                <a:effectLst/>
                <a:latin typeface="Times New Roman" panose="02020603050405020304" pitchFamily="18" charset="0"/>
                <a:ea typeface="Arial Unicode MS"/>
              </a:rPr>
              <a:t> </a:t>
            </a:r>
            <a:r>
              <a:rPr lang="en-US" sz="2400" dirty="0" err="1">
                <a:effectLst/>
                <a:latin typeface="Times New Roman" panose="02020603050405020304" pitchFamily="18" charset="0"/>
                <a:ea typeface="Arial Unicode MS"/>
              </a:rPr>
              <a:t>находятся</a:t>
            </a:r>
            <a:r>
              <a:rPr lang="en-US" sz="2400" dirty="0">
                <a:effectLst/>
                <a:latin typeface="Times New Roman" panose="02020603050405020304" pitchFamily="18" charset="0"/>
                <a:ea typeface="Arial Unicode MS"/>
              </a:rPr>
              <a:t> </a:t>
            </a:r>
            <a:r>
              <a:rPr lang="en-US" sz="2400" dirty="0" err="1">
                <a:effectLst/>
                <a:latin typeface="Times New Roman" panose="02020603050405020304" pitchFamily="18" charset="0"/>
                <a:ea typeface="Arial Unicode MS"/>
              </a:rPr>
              <a:t>слабые</a:t>
            </a:r>
            <a:r>
              <a:rPr lang="en-US" sz="2400" dirty="0">
                <a:effectLst/>
                <a:latin typeface="Times New Roman" panose="02020603050405020304" pitchFamily="18" charset="0"/>
                <a:ea typeface="Arial Unicode MS"/>
              </a:rPr>
              <a:t> </a:t>
            </a:r>
            <a:r>
              <a:rPr lang="en-US" sz="2400" dirty="0" err="1">
                <a:effectLst/>
                <a:latin typeface="Times New Roman" panose="02020603050405020304" pitchFamily="18" charset="0"/>
                <a:ea typeface="Arial Unicode MS"/>
              </a:rPr>
              <a:t>места</a:t>
            </a:r>
            <a:r>
              <a:rPr lang="en-US" sz="2400" dirty="0">
                <a:effectLst/>
                <a:latin typeface="Times New Roman" panose="02020603050405020304" pitchFamily="18" charset="0"/>
                <a:ea typeface="Arial Unicode MS"/>
              </a:rPr>
              <a:t>, в </a:t>
            </a:r>
            <a:r>
              <a:rPr lang="en-US" sz="2400" dirty="0" err="1">
                <a:effectLst/>
                <a:latin typeface="Times New Roman" panose="02020603050405020304" pitchFamily="18" charset="0"/>
                <a:ea typeface="Arial Unicode MS"/>
              </a:rPr>
              <a:t>чём</a:t>
            </a:r>
            <a:r>
              <a:rPr lang="en-US" sz="2400" dirty="0">
                <a:effectLst/>
                <a:latin typeface="Times New Roman" panose="02020603050405020304" pitchFamily="18" charset="0"/>
                <a:ea typeface="Arial Unicode MS"/>
              </a:rPr>
              <a:t> </a:t>
            </a:r>
            <a:r>
              <a:rPr lang="en-US" sz="2400" dirty="0" err="1">
                <a:effectLst/>
                <a:latin typeface="Times New Roman" panose="02020603050405020304" pitchFamily="18" charset="0"/>
                <a:ea typeface="Arial Unicode MS"/>
              </a:rPr>
              <a:t>будут</a:t>
            </a:r>
            <a:r>
              <a:rPr lang="en-US" sz="2400" dirty="0">
                <a:effectLst/>
                <a:latin typeface="Times New Roman" panose="02020603050405020304" pitchFamily="18" charset="0"/>
                <a:ea typeface="Arial Unicode MS"/>
              </a:rPr>
              <a:t> </a:t>
            </a:r>
            <a:r>
              <a:rPr lang="en-US" sz="2400" dirty="0" err="1">
                <a:effectLst/>
                <a:latin typeface="Times New Roman" panose="02020603050405020304" pitchFamily="18" charset="0"/>
                <a:ea typeface="Arial Unicode MS"/>
              </a:rPr>
              <a:t>состоять</a:t>
            </a:r>
            <a:r>
              <a:rPr lang="en-US" sz="2400" dirty="0">
                <a:effectLst/>
                <a:latin typeface="Times New Roman" panose="02020603050405020304" pitchFamily="18" charset="0"/>
                <a:ea typeface="Arial Unicode MS"/>
              </a:rPr>
              <a:t> </a:t>
            </a:r>
            <a:r>
              <a:rPr lang="en-US" sz="2400" dirty="0" err="1">
                <a:effectLst/>
                <a:latin typeface="Times New Roman" panose="02020603050405020304" pitchFamily="18" charset="0"/>
                <a:ea typeface="Arial Unicode MS"/>
              </a:rPr>
              <a:t>преимущества</a:t>
            </a:r>
            <a:r>
              <a:rPr lang="en-US" sz="2400" dirty="0">
                <a:effectLst/>
                <a:latin typeface="Times New Roman" panose="02020603050405020304" pitchFamily="18" charset="0"/>
                <a:ea typeface="Arial Unicode MS"/>
              </a:rPr>
              <a:t> и </a:t>
            </a:r>
            <a:r>
              <a:rPr lang="en-US" sz="2400" dirty="0" err="1">
                <a:effectLst/>
                <a:latin typeface="Times New Roman" panose="02020603050405020304" pitchFamily="18" charset="0"/>
                <a:ea typeface="Arial Unicode MS"/>
              </a:rPr>
              <a:t>недостатки</a:t>
            </a:r>
            <a:r>
              <a:rPr lang="en-US" sz="2400" dirty="0">
                <a:effectLst/>
                <a:latin typeface="Times New Roman" panose="02020603050405020304" pitchFamily="18" charset="0"/>
                <a:ea typeface="Arial Unicode MS"/>
              </a:rPr>
              <a:t>, </a:t>
            </a:r>
            <a:r>
              <a:rPr lang="en-US" sz="2400" dirty="0" err="1">
                <a:effectLst/>
                <a:latin typeface="Times New Roman" panose="02020603050405020304" pitchFamily="18" charset="0"/>
                <a:ea typeface="Arial Unicode MS"/>
              </a:rPr>
              <a:t>протекающих</a:t>
            </a:r>
            <a:r>
              <a:rPr lang="en-US" sz="2400" dirty="0">
                <a:effectLst/>
                <a:latin typeface="Times New Roman" panose="02020603050405020304" pitchFamily="18" charset="0"/>
                <a:ea typeface="Arial Unicode MS"/>
              </a:rPr>
              <a:t> в </a:t>
            </a:r>
            <a:r>
              <a:rPr lang="en-US" sz="2400" dirty="0" err="1">
                <a:effectLst/>
                <a:latin typeface="Times New Roman" panose="02020603050405020304" pitchFamily="18" charset="0"/>
                <a:ea typeface="Arial Unicode MS"/>
              </a:rPr>
              <a:t>ней</a:t>
            </a:r>
            <a:r>
              <a:rPr lang="en-US" sz="2400" dirty="0">
                <a:effectLst/>
                <a:latin typeface="Times New Roman" panose="02020603050405020304" pitchFamily="18" charset="0"/>
                <a:ea typeface="Arial Unicode MS"/>
              </a:rPr>
              <a:t> </a:t>
            </a:r>
            <a:r>
              <a:rPr lang="en-US" sz="2400" dirty="0" err="1">
                <a:effectLst/>
                <a:latin typeface="Times New Roman" panose="02020603050405020304" pitchFamily="18" charset="0"/>
                <a:ea typeface="Arial Unicode MS"/>
              </a:rPr>
              <a:t>бизнес-процессов</a:t>
            </a:r>
            <a:r>
              <a:rPr lang="en-US" sz="2400" dirty="0">
                <a:effectLst/>
                <a:latin typeface="Times New Roman" panose="02020603050405020304" pitchFamily="18" charset="0"/>
                <a:ea typeface="Arial Unicode MS"/>
              </a:rPr>
              <a:t> </a:t>
            </a:r>
            <a:r>
              <a:rPr lang="en-US" sz="2400" dirty="0" err="1">
                <a:effectLst/>
                <a:latin typeface="Times New Roman" panose="02020603050405020304" pitchFamily="18" charset="0"/>
                <a:ea typeface="Arial Unicode MS"/>
              </a:rPr>
              <a:t>относительно</a:t>
            </a:r>
            <a:r>
              <a:rPr lang="en-US" sz="2400" dirty="0">
                <a:effectLst/>
                <a:latin typeface="Times New Roman" panose="02020603050405020304" pitchFamily="18" charset="0"/>
                <a:ea typeface="Arial Unicode MS"/>
              </a:rPr>
              <a:t> </a:t>
            </a:r>
            <a:r>
              <a:rPr lang="en-US" sz="2400" dirty="0" err="1">
                <a:effectLst/>
                <a:latin typeface="Times New Roman" panose="02020603050405020304" pitchFamily="18" charset="0"/>
                <a:ea typeface="Arial Unicode MS"/>
              </a:rPr>
              <a:t>конкурентов</a:t>
            </a:r>
            <a:r>
              <a:rPr lang="ru-RU" sz="2400" dirty="0">
                <a:effectLst/>
                <a:latin typeface="Times New Roman" panose="02020603050405020304" pitchFamily="18" charset="0"/>
                <a:ea typeface="Arial Unicode MS"/>
              </a:rPr>
              <a:t>.</a:t>
            </a:r>
          </a:p>
          <a:p>
            <a:pPr marL="0" indent="0">
              <a:buNone/>
            </a:pPr>
            <a:endParaRPr lang="ru-RU" sz="2400" dirty="0">
              <a:effectLst/>
              <a:latin typeface="Times New Roman" panose="02020603050405020304" pitchFamily="18" charset="0"/>
              <a:ea typeface="Arial Unicode MS"/>
            </a:endParaRPr>
          </a:p>
          <a:p>
            <a:pPr marL="0" indent="0">
              <a:buNone/>
            </a:pPr>
            <a:r>
              <a:rPr lang="da-DK" sz="2400" dirty="0">
                <a:effectLst/>
                <a:latin typeface="Times New Roman" panose="02020603050405020304" pitchFamily="18" charset="0"/>
                <a:ea typeface="Arial Unicode MS"/>
              </a:rPr>
              <a:t>IDEF0 </a:t>
            </a:r>
            <a:r>
              <a:rPr lang="en-US" sz="2400" dirty="0">
                <a:effectLst/>
                <a:latin typeface="Times New Roman" panose="02020603050405020304" pitchFamily="18" charset="0"/>
                <a:ea typeface="Arial Unicode MS"/>
              </a:rPr>
              <a:t>– </a:t>
            </a:r>
            <a:r>
              <a:rPr lang="en-US" sz="2400" dirty="0" err="1">
                <a:effectLst/>
                <a:latin typeface="Times New Roman" panose="02020603050405020304" pitchFamily="18" charset="0"/>
                <a:ea typeface="Arial Unicode MS"/>
              </a:rPr>
              <a:t>это</a:t>
            </a:r>
            <a:r>
              <a:rPr lang="en-US" sz="2400" dirty="0">
                <a:effectLst/>
                <a:latin typeface="Times New Roman" panose="02020603050405020304" pitchFamily="18" charset="0"/>
                <a:ea typeface="Arial Unicode MS"/>
              </a:rPr>
              <a:t> </a:t>
            </a:r>
            <a:r>
              <a:rPr lang="en-US" sz="2400" dirty="0" err="1">
                <a:effectLst/>
                <a:latin typeface="Times New Roman" panose="02020603050405020304" pitchFamily="18" charset="0"/>
                <a:ea typeface="Arial Unicode MS"/>
              </a:rPr>
              <a:t>графическая</a:t>
            </a:r>
            <a:r>
              <a:rPr lang="en-US" sz="2400" dirty="0">
                <a:effectLst/>
                <a:latin typeface="Times New Roman" panose="02020603050405020304" pitchFamily="18" charset="0"/>
                <a:ea typeface="Arial Unicode MS"/>
              </a:rPr>
              <a:t> </a:t>
            </a:r>
            <a:r>
              <a:rPr lang="en-US" sz="2400" dirty="0" err="1">
                <a:effectLst/>
                <a:latin typeface="Times New Roman" panose="02020603050405020304" pitchFamily="18" charset="0"/>
                <a:ea typeface="Arial Unicode MS"/>
              </a:rPr>
              <a:t>нотация</a:t>
            </a:r>
            <a:r>
              <a:rPr lang="en-US" sz="2400" dirty="0">
                <a:effectLst/>
                <a:latin typeface="Times New Roman" panose="02020603050405020304" pitchFamily="18" charset="0"/>
                <a:ea typeface="Arial Unicode MS"/>
              </a:rPr>
              <a:t>, </a:t>
            </a:r>
            <a:r>
              <a:rPr lang="en-US" sz="2400" dirty="0" err="1">
                <a:effectLst/>
                <a:latin typeface="Times New Roman" panose="02020603050405020304" pitchFamily="18" charset="0"/>
                <a:ea typeface="Arial Unicode MS"/>
              </a:rPr>
              <a:t>предназначенная</a:t>
            </a:r>
            <a:r>
              <a:rPr lang="en-US" sz="2400" dirty="0">
                <a:effectLst/>
                <a:latin typeface="Times New Roman" panose="02020603050405020304" pitchFamily="18" charset="0"/>
                <a:ea typeface="Arial Unicode MS"/>
              </a:rPr>
              <a:t> </a:t>
            </a:r>
            <a:r>
              <a:rPr lang="en-US" sz="2400" dirty="0" err="1">
                <a:effectLst/>
                <a:latin typeface="Times New Roman" panose="02020603050405020304" pitchFamily="18" charset="0"/>
                <a:ea typeface="Arial Unicode MS"/>
              </a:rPr>
              <a:t>для</a:t>
            </a:r>
            <a:r>
              <a:rPr lang="en-US" sz="2400" dirty="0">
                <a:effectLst/>
                <a:latin typeface="Times New Roman" panose="02020603050405020304" pitchFamily="18" charset="0"/>
                <a:ea typeface="Arial Unicode MS"/>
              </a:rPr>
              <a:t> </a:t>
            </a:r>
            <a:r>
              <a:rPr lang="en-US" sz="2400" dirty="0" err="1">
                <a:effectLst/>
                <a:latin typeface="Times New Roman" panose="02020603050405020304" pitchFamily="18" charset="0"/>
                <a:ea typeface="Arial Unicode MS"/>
              </a:rPr>
              <a:t>описания</a:t>
            </a:r>
            <a:r>
              <a:rPr lang="en-US" sz="2400" dirty="0">
                <a:effectLst/>
                <a:latin typeface="Times New Roman" panose="02020603050405020304" pitchFamily="18" charset="0"/>
                <a:ea typeface="Arial Unicode MS"/>
              </a:rPr>
              <a:t> </a:t>
            </a:r>
            <a:r>
              <a:rPr lang="en-US" sz="2400" dirty="0" err="1">
                <a:effectLst/>
                <a:latin typeface="Times New Roman" panose="02020603050405020304" pitchFamily="18" charset="0"/>
                <a:ea typeface="Arial Unicode MS"/>
              </a:rPr>
              <a:t>бизнес-процессов</a:t>
            </a:r>
            <a:r>
              <a:rPr lang="en-US" sz="2400" dirty="0">
                <a:effectLst/>
                <a:latin typeface="Times New Roman" panose="02020603050405020304" pitchFamily="18" charset="0"/>
                <a:ea typeface="Arial Unicode MS"/>
              </a:rPr>
              <a:t>. </a:t>
            </a:r>
            <a:r>
              <a:rPr lang="en-US" sz="2400" dirty="0" err="1">
                <a:effectLst/>
                <a:latin typeface="Times New Roman" panose="02020603050405020304" pitchFamily="18" charset="0"/>
                <a:ea typeface="Arial Unicode MS"/>
              </a:rPr>
              <a:t>Система</a:t>
            </a:r>
            <a:r>
              <a:rPr lang="en-US" sz="2400" dirty="0">
                <a:effectLst/>
                <a:latin typeface="Times New Roman" panose="02020603050405020304" pitchFamily="18" charset="0"/>
                <a:ea typeface="Arial Unicode MS"/>
              </a:rPr>
              <a:t>, </a:t>
            </a:r>
            <a:r>
              <a:rPr lang="en-US" sz="2400" dirty="0" err="1">
                <a:effectLst/>
                <a:latin typeface="Times New Roman" panose="02020603050405020304" pitchFamily="18" charset="0"/>
                <a:ea typeface="Arial Unicode MS"/>
              </a:rPr>
              <a:t>описываемая</a:t>
            </a:r>
            <a:r>
              <a:rPr lang="en-US" sz="2400" dirty="0">
                <a:effectLst/>
                <a:latin typeface="Times New Roman" panose="02020603050405020304" pitchFamily="18" charset="0"/>
                <a:ea typeface="Arial Unicode MS"/>
              </a:rPr>
              <a:t> в </a:t>
            </a:r>
            <a:r>
              <a:rPr lang="en-US" sz="2400" dirty="0" err="1">
                <a:effectLst/>
                <a:latin typeface="Times New Roman" panose="02020603050405020304" pitchFamily="18" charset="0"/>
                <a:ea typeface="Arial Unicode MS"/>
              </a:rPr>
              <a:t>данной</a:t>
            </a:r>
            <a:r>
              <a:rPr lang="en-US" sz="2400" dirty="0">
                <a:effectLst/>
                <a:latin typeface="Times New Roman" panose="02020603050405020304" pitchFamily="18" charset="0"/>
                <a:ea typeface="Arial Unicode MS"/>
              </a:rPr>
              <a:t> </a:t>
            </a:r>
            <a:r>
              <a:rPr lang="en-US" sz="2400" dirty="0" err="1">
                <a:effectLst/>
                <a:latin typeface="Times New Roman" panose="02020603050405020304" pitchFamily="18" charset="0"/>
                <a:ea typeface="Arial Unicode MS"/>
              </a:rPr>
              <a:t>нотации</a:t>
            </a:r>
            <a:r>
              <a:rPr lang="en-US" sz="2400" dirty="0">
                <a:effectLst/>
                <a:latin typeface="Times New Roman" panose="02020603050405020304" pitchFamily="18" charset="0"/>
                <a:ea typeface="Arial Unicode MS"/>
              </a:rPr>
              <a:t>, </a:t>
            </a:r>
            <a:r>
              <a:rPr lang="en-US" sz="2400" dirty="0" err="1">
                <a:effectLst/>
                <a:latin typeface="Times New Roman" panose="02020603050405020304" pitchFamily="18" charset="0"/>
                <a:ea typeface="Arial Unicode MS"/>
              </a:rPr>
              <a:t>проходит</a:t>
            </a:r>
            <a:r>
              <a:rPr lang="en-US" sz="2400" dirty="0">
                <a:effectLst/>
                <a:latin typeface="Times New Roman" panose="02020603050405020304" pitchFamily="18" charset="0"/>
                <a:ea typeface="Arial Unicode MS"/>
              </a:rPr>
              <a:t> </a:t>
            </a:r>
            <a:r>
              <a:rPr lang="en-US" sz="2400" dirty="0" err="1">
                <a:effectLst/>
                <a:latin typeface="Times New Roman" panose="02020603050405020304" pitchFamily="18" charset="0"/>
                <a:ea typeface="Arial Unicode MS"/>
              </a:rPr>
              <a:t>через</a:t>
            </a:r>
            <a:r>
              <a:rPr lang="en-US" sz="2400" dirty="0">
                <a:effectLst/>
                <a:latin typeface="Times New Roman" panose="02020603050405020304" pitchFamily="18" charset="0"/>
                <a:ea typeface="Arial Unicode MS"/>
              </a:rPr>
              <a:t> </a:t>
            </a:r>
            <a:r>
              <a:rPr lang="en-US" sz="2400" dirty="0" err="1">
                <a:effectLst/>
                <a:latin typeface="Times New Roman" panose="02020603050405020304" pitchFamily="18" charset="0"/>
                <a:ea typeface="Arial Unicode MS"/>
              </a:rPr>
              <a:t>декомпозицию</a:t>
            </a:r>
            <a:r>
              <a:rPr lang="en-US" sz="2400" dirty="0">
                <a:effectLst/>
                <a:latin typeface="Times New Roman" panose="02020603050405020304" pitchFamily="18" charset="0"/>
                <a:ea typeface="Arial Unicode MS"/>
              </a:rPr>
              <a:t> </a:t>
            </a:r>
            <a:r>
              <a:rPr lang="en-US" sz="2400" dirty="0" err="1">
                <a:effectLst/>
                <a:latin typeface="Times New Roman" panose="02020603050405020304" pitchFamily="18" charset="0"/>
                <a:ea typeface="Arial Unicode MS"/>
              </a:rPr>
              <a:t>или</a:t>
            </a:r>
            <a:r>
              <a:rPr lang="en-US" sz="2400" dirty="0">
                <a:effectLst/>
                <a:latin typeface="Times New Roman" panose="02020603050405020304" pitchFamily="18" charset="0"/>
                <a:ea typeface="Arial Unicode MS"/>
              </a:rPr>
              <a:t>, </a:t>
            </a:r>
            <a:r>
              <a:rPr lang="en-US" sz="2400" dirty="0" err="1">
                <a:effectLst/>
                <a:latin typeface="Times New Roman" panose="02020603050405020304" pitchFamily="18" charset="0"/>
                <a:ea typeface="Arial Unicode MS"/>
              </a:rPr>
              <a:t>иными</a:t>
            </a:r>
            <a:r>
              <a:rPr lang="en-US" sz="2400" dirty="0">
                <a:effectLst/>
                <a:latin typeface="Times New Roman" panose="02020603050405020304" pitchFamily="18" charset="0"/>
                <a:ea typeface="Arial Unicode MS"/>
              </a:rPr>
              <a:t> </a:t>
            </a:r>
            <a:r>
              <a:rPr lang="en-US" sz="2400" dirty="0" err="1">
                <a:effectLst/>
                <a:latin typeface="Times New Roman" panose="02020603050405020304" pitchFamily="18" charset="0"/>
                <a:ea typeface="Arial Unicode MS"/>
              </a:rPr>
              <a:t>словами</a:t>
            </a:r>
            <a:r>
              <a:rPr lang="en-US" sz="2400" dirty="0">
                <a:effectLst/>
                <a:latin typeface="Times New Roman" panose="02020603050405020304" pitchFamily="18" charset="0"/>
                <a:ea typeface="Arial Unicode MS"/>
              </a:rPr>
              <a:t>, </a:t>
            </a:r>
            <a:r>
              <a:rPr lang="en-US" sz="2400" dirty="0" err="1">
                <a:effectLst/>
                <a:latin typeface="Times New Roman" panose="02020603050405020304" pitchFamily="18" charset="0"/>
                <a:ea typeface="Arial Unicode MS"/>
              </a:rPr>
              <a:t>разбиение</a:t>
            </a:r>
            <a:r>
              <a:rPr lang="en-US" sz="2400" dirty="0">
                <a:effectLst/>
                <a:latin typeface="Times New Roman" panose="02020603050405020304" pitchFamily="18" charset="0"/>
                <a:ea typeface="Arial Unicode MS"/>
              </a:rPr>
              <a:t> </a:t>
            </a:r>
            <a:r>
              <a:rPr lang="en-US" sz="2400" dirty="0" err="1">
                <a:effectLst/>
                <a:latin typeface="Times New Roman" panose="02020603050405020304" pitchFamily="18" charset="0"/>
                <a:ea typeface="Arial Unicode MS"/>
              </a:rPr>
              <a:t>на</a:t>
            </a:r>
            <a:r>
              <a:rPr lang="en-US" sz="2400" dirty="0">
                <a:effectLst/>
                <a:latin typeface="Times New Roman" panose="02020603050405020304" pitchFamily="18" charset="0"/>
                <a:ea typeface="Arial Unicode MS"/>
              </a:rPr>
              <a:t> </a:t>
            </a:r>
            <a:r>
              <a:rPr lang="en-US" sz="2400" dirty="0" err="1">
                <a:effectLst/>
                <a:latin typeface="Times New Roman" panose="02020603050405020304" pitchFamily="18" charset="0"/>
                <a:ea typeface="Arial Unicode MS"/>
              </a:rPr>
              <a:t>взаимосвязанные</a:t>
            </a:r>
            <a:r>
              <a:rPr lang="en-US" sz="2400" dirty="0">
                <a:effectLst/>
                <a:latin typeface="Times New Roman" panose="02020603050405020304" pitchFamily="18" charset="0"/>
                <a:ea typeface="Arial Unicode MS"/>
              </a:rPr>
              <a:t> </a:t>
            </a:r>
            <a:r>
              <a:rPr lang="en-US" sz="2400" dirty="0" err="1">
                <a:effectLst/>
                <a:latin typeface="Times New Roman" panose="02020603050405020304" pitchFamily="18" charset="0"/>
                <a:ea typeface="Arial Unicode MS"/>
              </a:rPr>
              <a:t>функции</a:t>
            </a:r>
            <a:r>
              <a:rPr lang="en-US" sz="2400" dirty="0">
                <a:effectLst/>
                <a:latin typeface="Times New Roman" panose="02020603050405020304" pitchFamily="18" charset="0"/>
                <a:ea typeface="Arial Unicode MS"/>
              </a:rPr>
              <a:t>. </a:t>
            </a:r>
            <a:endParaRPr lang="ru-RU" sz="2800" dirty="0"/>
          </a:p>
        </p:txBody>
      </p:sp>
    </p:spTree>
    <p:extLst>
      <p:ext uri="{BB962C8B-B14F-4D97-AF65-F5344CB8AC3E}">
        <p14:creationId xmlns:p14="http://schemas.microsoft.com/office/powerpoint/2010/main" val="22834212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F47B93A-2CB8-4136-B542-AD2B430918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94" y="255036"/>
            <a:ext cx="10353761" cy="1326321"/>
          </a:xfrm>
        </p:spPr>
        <p:txBody>
          <a:bodyPr/>
          <a:lstStyle/>
          <a:p>
            <a:r>
              <a:rPr lang="ru-RU" dirty="0"/>
              <a:t>Модель </a:t>
            </a:r>
            <a:r>
              <a:rPr lang="ru-RU" dirty="0" err="1"/>
              <a:t>As-Is</a:t>
            </a:r>
            <a:r>
              <a:rPr lang="ru-RU" dirty="0"/>
              <a:t> проекта «Интернет магазин»</a:t>
            </a:r>
          </a:p>
        </p:txBody>
      </p:sp>
      <p:pic>
        <p:nvPicPr>
          <p:cNvPr id="5" name="Объект 4">
            <a:extLst>
              <a:ext uri="{FF2B5EF4-FFF2-40B4-BE49-F238E27FC236}">
                <a16:creationId xmlns:a16="http://schemas.microsoft.com/office/drawing/2014/main" id="{E6C573A5-CD8C-4D50-975A-9D11131DF05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92027" y="1427584"/>
            <a:ext cx="7607945" cy="5066522"/>
          </a:xfrm>
        </p:spPr>
      </p:pic>
    </p:spTree>
    <p:extLst>
      <p:ext uri="{BB962C8B-B14F-4D97-AF65-F5344CB8AC3E}">
        <p14:creationId xmlns:p14="http://schemas.microsoft.com/office/powerpoint/2010/main" val="12277657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1DEABCA-4129-4B4E-8C0C-BBFAE72953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356" y="189722"/>
            <a:ext cx="10353761" cy="1326321"/>
          </a:xfrm>
        </p:spPr>
        <p:txBody>
          <a:bodyPr/>
          <a:lstStyle/>
          <a:p>
            <a:r>
              <a:rPr lang="ru-RU" dirty="0"/>
              <a:t>Декомпозиция проекта «Интернет магазин»</a:t>
            </a:r>
          </a:p>
        </p:txBody>
      </p:sp>
      <p:pic>
        <p:nvPicPr>
          <p:cNvPr id="5" name="Объект 4">
            <a:extLst>
              <a:ext uri="{FF2B5EF4-FFF2-40B4-BE49-F238E27FC236}">
                <a16:creationId xmlns:a16="http://schemas.microsoft.com/office/drawing/2014/main" id="{31183284-3257-4224-B79F-4823D73BD6F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11458" y="1334278"/>
            <a:ext cx="7769084" cy="5183097"/>
          </a:xfrm>
        </p:spPr>
      </p:pic>
    </p:spTree>
    <p:extLst>
      <p:ext uri="{BB962C8B-B14F-4D97-AF65-F5344CB8AC3E}">
        <p14:creationId xmlns:p14="http://schemas.microsoft.com/office/powerpoint/2010/main" val="239468450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B121662-8259-4C0C-8850-4E63550D0D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356" y="115078"/>
            <a:ext cx="10353761" cy="1326321"/>
          </a:xfrm>
        </p:spPr>
        <p:txBody>
          <a:bodyPr/>
          <a:lstStyle/>
          <a:p>
            <a:r>
              <a:rPr lang="ru-RU" dirty="0"/>
              <a:t>Декомпозиция организационной деятельности</a:t>
            </a:r>
          </a:p>
        </p:txBody>
      </p:sp>
      <p:pic>
        <p:nvPicPr>
          <p:cNvPr id="5" name="Объект 4">
            <a:extLst>
              <a:ext uri="{FF2B5EF4-FFF2-40B4-BE49-F238E27FC236}">
                <a16:creationId xmlns:a16="http://schemas.microsoft.com/office/drawing/2014/main" id="{21428D0E-2E6E-4A88-9666-F1FA4C7C387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93012" y="1268963"/>
            <a:ext cx="8005976" cy="5327780"/>
          </a:xfrm>
        </p:spPr>
      </p:pic>
    </p:spTree>
    <p:extLst>
      <p:ext uri="{BB962C8B-B14F-4D97-AF65-F5344CB8AC3E}">
        <p14:creationId xmlns:p14="http://schemas.microsoft.com/office/powerpoint/2010/main" val="215762225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8FD7F69-A755-4A39-86FE-34045DCD13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356" y="0"/>
            <a:ext cx="10353761" cy="1326321"/>
          </a:xfrm>
        </p:spPr>
        <p:txBody>
          <a:bodyPr/>
          <a:lstStyle/>
          <a:p>
            <a:r>
              <a:rPr lang="ru-RU" dirty="0"/>
              <a:t>Декомпозиция процесса разработки</a:t>
            </a:r>
          </a:p>
        </p:txBody>
      </p:sp>
      <p:pic>
        <p:nvPicPr>
          <p:cNvPr id="5" name="Объект 4">
            <a:extLst>
              <a:ext uri="{FF2B5EF4-FFF2-40B4-BE49-F238E27FC236}">
                <a16:creationId xmlns:a16="http://schemas.microsoft.com/office/drawing/2014/main" id="{66118D3A-60A5-46A8-BB11-A78FBFD05D7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32909" y="998376"/>
            <a:ext cx="8526182" cy="5665864"/>
          </a:xfrm>
        </p:spPr>
      </p:pic>
    </p:spTree>
    <p:extLst>
      <p:ext uri="{BB962C8B-B14F-4D97-AF65-F5344CB8AC3E}">
        <p14:creationId xmlns:p14="http://schemas.microsoft.com/office/powerpoint/2010/main" val="218002092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0E8EB0F-87E5-4E5A-B6FA-5F10ED3050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9118" y="0"/>
            <a:ext cx="10353761" cy="1326321"/>
          </a:xfrm>
        </p:spPr>
        <p:txBody>
          <a:bodyPr/>
          <a:lstStyle/>
          <a:p>
            <a:r>
              <a:rPr lang="ru-RU" dirty="0"/>
              <a:t>Реализация программы</a:t>
            </a:r>
          </a:p>
        </p:txBody>
      </p:sp>
      <p:pic>
        <p:nvPicPr>
          <p:cNvPr id="5" name="Объект 4">
            <a:extLst>
              <a:ext uri="{FF2B5EF4-FFF2-40B4-BE49-F238E27FC236}">
                <a16:creationId xmlns:a16="http://schemas.microsoft.com/office/drawing/2014/main" id="{676582D7-9495-40EF-B3FB-AF7270F3AAB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15884" y="1082351"/>
            <a:ext cx="8160231" cy="5447948"/>
          </a:xfrm>
        </p:spPr>
      </p:pic>
    </p:spTree>
    <p:extLst>
      <p:ext uri="{BB962C8B-B14F-4D97-AF65-F5344CB8AC3E}">
        <p14:creationId xmlns:p14="http://schemas.microsoft.com/office/powerpoint/2010/main" val="342464151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54BFEAE-8B91-461C-9598-7A1396BF4F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356" y="0"/>
            <a:ext cx="10353761" cy="1326321"/>
          </a:xfrm>
        </p:spPr>
        <p:txBody>
          <a:bodyPr/>
          <a:lstStyle/>
          <a:p>
            <a:r>
              <a:rPr lang="ru-RU" dirty="0"/>
              <a:t>Декомпозиция процесса главного меню магазина.</a:t>
            </a:r>
          </a:p>
        </p:txBody>
      </p:sp>
      <p:pic>
        <p:nvPicPr>
          <p:cNvPr id="5" name="Объект 4">
            <a:extLst>
              <a:ext uri="{FF2B5EF4-FFF2-40B4-BE49-F238E27FC236}">
                <a16:creationId xmlns:a16="http://schemas.microsoft.com/office/drawing/2014/main" id="{CD79DD85-AF19-4A4D-ABB1-BB034B9421F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90089" y="1326321"/>
            <a:ext cx="8011821" cy="5314432"/>
          </a:xfrm>
        </p:spPr>
      </p:pic>
    </p:spTree>
    <p:extLst>
      <p:ext uri="{BB962C8B-B14F-4D97-AF65-F5344CB8AC3E}">
        <p14:creationId xmlns:p14="http://schemas.microsoft.com/office/powerpoint/2010/main" val="418168416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7D5CEB1-C922-4285-BCB9-C126495681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9119" y="199053"/>
            <a:ext cx="10353761" cy="1326321"/>
          </a:xfrm>
        </p:spPr>
        <p:txBody>
          <a:bodyPr/>
          <a:lstStyle/>
          <a:p>
            <a:r>
              <a:rPr lang="ru-RU" dirty="0"/>
              <a:t>Декомпозиция процесса поиска товара.</a:t>
            </a:r>
          </a:p>
        </p:txBody>
      </p:sp>
      <p:pic>
        <p:nvPicPr>
          <p:cNvPr id="5" name="Объект 4">
            <a:extLst>
              <a:ext uri="{FF2B5EF4-FFF2-40B4-BE49-F238E27FC236}">
                <a16:creationId xmlns:a16="http://schemas.microsoft.com/office/drawing/2014/main" id="{90C714FD-E7FD-43B5-A768-62357AB1D6A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08360" y="1456822"/>
            <a:ext cx="7775279" cy="5202125"/>
          </a:xfrm>
        </p:spPr>
      </p:pic>
    </p:spTree>
    <p:extLst>
      <p:ext uri="{BB962C8B-B14F-4D97-AF65-F5344CB8AC3E}">
        <p14:creationId xmlns:p14="http://schemas.microsoft.com/office/powerpoint/2010/main" val="20694169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768C25B-EDAC-4468-AEF9-B4E82F3AF0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356" y="0"/>
            <a:ext cx="10353761" cy="1326321"/>
          </a:xfrm>
        </p:spPr>
        <p:txBody>
          <a:bodyPr/>
          <a:lstStyle/>
          <a:p>
            <a:r>
              <a:rPr lang="ru-RU" dirty="0"/>
              <a:t>Декомпозиция процесса изменения БД товара.</a:t>
            </a:r>
          </a:p>
        </p:txBody>
      </p:sp>
      <p:pic>
        <p:nvPicPr>
          <p:cNvPr id="5" name="Объект 4">
            <a:extLst>
              <a:ext uri="{FF2B5EF4-FFF2-40B4-BE49-F238E27FC236}">
                <a16:creationId xmlns:a16="http://schemas.microsoft.com/office/drawing/2014/main" id="{0462B251-157E-44D9-A12D-4F7AA3F2A0A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51265" y="1231641"/>
            <a:ext cx="8089470" cy="5402631"/>
          </a:xfrm>
        </p:spPr>
      </p:pic>
    </p:spTree>
    <p:extLst>
      <p:ext uri="{BB962C8B-B14F-4D97-AF65-F5344CB8AC3E}">
        <p14:creationId xmlns:p14="http://schemas.microsoft.com/office/powerpoint/2010/main" val="115302918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4B1D2B2-7253-4AEC-ACD2-5FA535E7CD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356" y="105747"/>
            <a:ext cx="10353761" cy="1326321"/>
          </a:xfrm>
        </p:spPr>
        <p:txBody>
          <a:bodyPr/>
          <a:lstStyle/>
          <a:p>
            <a:r>
              <a:rPr lang="ru-RU" dirty="0"/>
              <a:t>Декомпозиция процесса меню корзины</a:t>
            </a:r>
          </a:p>
        </p:txBody>
      </p:sp>
      <p:pic>
        <p:nvPicPr>
          <p:cNvPr id="5" name="Объект 4">
            <a:extLst>
              <a:ext uri="{FF2B5EF4-FFF2-40B4-BE49-F238E27FC236}">
                <a16:creationId xmlns:a16="http://schemas.microsoft.com/office/drawing/2014/main" id="{D26C5015-EFC6-4843-9013-ED9BA197FC0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27381" y="1315615"/>
            <a:ext cx="7925278" cy="5257083"/>
          </a:xfrm>
        </p:spPr>
      </p:pic>
    </p:spTree>
    <p:extLst>
      <p:ext uri="{BB962C8B-B14F-4D97-AF65-F5344CB8AC3E}">
        <p14:creationId xmlns:p14="http://schemas.microsoft.com/office/powerpoint/2010/main" val="109308540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6C168B4-4A70-4FE6-A53C-B0AEBEF067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356" y="0"/>
            <a:ext cx="10353761" cy="1326321"/>
          </a:xfrm>
        </p:spPr>
        <p:txBody>
          <a:bodyPr/>
          <a:lstStyle/>
          <a:p>
            <a:r>
              <a:rPr lang="ru-RU" dirty="0"/>
              <a:t>Декомпозиция процесса оформления заказа</a:t>
            </a:r>
          </a:p>
        </p:txBody>
      </p:sp>
      <p:pic>
        <p:nvPicPr>
          <p:cNvPr id="5" name="Объект 4">
            <a:extLst>
              <a:ext uri="{FF2B5EF4-FFF2-40B4-BE49-F238E27FC236}">
                <a16:creationId xmlns:a16="http://schemas.microsoft.com/office/drawing/2014/main" id="{56FF70E1-EEB3-4E34-BB5C-ABD0856F72D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22636" y="1259632"/>
            <a:ext cx="8146727" cy="5411755"/>
          </a:xfrm>
        </p:spPr>
      </p:pic>
    </p:spTree>
    <p:extLst>
      <p:ext uri="{BB962C8B-B14F-4D97-AF65-F5344CB8AC3E}">
        <p14:creationId xmlns:p14="http://schemas.microsoft.com/office/powerpoint/2010/main" val="202892764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4B100F6-7F75-4FC1-AD4F-3639F7E40E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Диаграмма IDEF3 проекта «Интернет магазин»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8D30C7B4-960E-44C4-B81A-F96B51B337D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ru-RU" sz="2400" dirty="0"/>
              <a:t>IDEF3, также называемая </a:t>
            </a:r>
            <a:r>
              <a:rPr lang="ru-RU" sz="2400" dirty="0" err="1"/>
              <a:t>workflow</a:t>
            </a:r>
            <a:r>
              <a:rPr lang="ru-RU" sz="2400" dirty="0"/>
              <a:t> </a:t>
            </a:r>
            <a:r>
              <a:rPr lang="ru-RU" sz="2400" dirty="0" err="1"/>
              <a:t>diagramming</a:t>
            </a:r>
            <a:r>
              <a:rPr lang="ru-RU" sz="2400" dirty="0"/>
              <a:t> – это такая методология моделирования, использующая графическое описание информационных потоков, взаимоотношений между процессами обработки информации и объектов, являющихся частью этих процессов.</a:t>
            </a:r>
          </a:p>
        </p:txBody>
      </p:sp>
    </p:spTree>
    <p:extLst>
      <p:ext uri="{BB962C8B-B14F-4D97-AF65-F5344CB8AC3E}">
        <p14:creationId xmlns:p14="http://schemas.microsoft.com/office/powerpoint/2010/main" val="66999405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18000"/>
                <a:satMod val="160000"/>
                <a:lumMod val="28000"/>
              </a:schemeClr>
              <a:schemeClr val="bg2">
                <a:tint val="95000"/>
                <a:satMod val="160000"/>
                <a:lumMod val="116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Объект 4">
            <a:extLst>
              <a:ext uri="{FF2B5EF4-FFF2-40B4-BE49-F238E27FC236}">
                <a16:creationId xmlns:a16="http://schemas.microsoft.com/office/drawing/2014/main" id="{74B0D396-833F-4AA2-871F-4FEEED05C89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24947" y="195465"/>
            <a:ext cx="9367934" cy="6467069"/>
          </a:xfrm>
          <a:prstGeom prst="rect">
            <a:avLst/>
          </a:prstGeom>
          <a:ln w="127000" cap="flat">
            <a:solidFill>
              <a:srgbClr val="FFFFFF"/>
            </a:solidFill>
            <a:miter lim="800000"/>
          </a:ln>
          <a:effectLst>
            <a:outerShdw blurRad="54991" dist="17780" dir="5400000" algn="ctr" rotWithShape="0">
              <a:schemeClr val="bg1">
                <a:alpha val="40000"/>
              </a:scheme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</a:sp3d>
        </p:spPr>
      </p:pic>
    </p:spTree>
    <p:extLst>
      <p:ext uri="{BB962C8B-B14F-4D97-AF65-F5344CB8AC3E}">
        <p14:creationId xmlns:p14="http://schemas.microsoft.com/office/powerpoint/2010/main" val="75516584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4542714-E031-414B-AF0B-CCEDC692A6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Диаграмма </a:t>
            </a:r>
            <a:r>
              <a:rPr lang="en-US" dirty="0"/>
              <a:t>IDEF1X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D180E85F-467C-4296-9306-155362D76EF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ru-RU" dirty="0"/>
              <a:t>Методология IDEF1X предназначена для представления баз данных, необходимых для функционирования системы.</a:t>
            </a:r>
          </a:p>
        </p:txBody>
      </p:sp>
      <p:pic>
        <p:nvPicPr>
          <p:cNvPr id="5" name="Рисунок 4" descr="Изображение выглядит как текст, монитор, снимок экрана, экран&#10;&#10;Автоматически созданное описание">
            <a:extLst>
              <a:ext uri="{FF2B5EF4-FFF2-40B4-BE49-F238E27FC236}">
                <a16:creationId xmlns:a16="http://schemas.microsoft.com/office/drawing/2014/main" id="{6188D153-28D4-40DF-A14F-968C2961213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8940" y="2758008"/>
            <a:ext cx="10963469" cy="36129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2537777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4E2C117-BDC7-4D3A-A3AC-36F5866441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z="3600" dirty="0"/>
              <a:t>Ф</a:t>
            </a:r>
            <a:r>
              <a:rPr lang="ru-RU" sz="3600" cap="none" dirty="0"/>
              <a:t>инальный пользовательский интерфейс</a:t>
            </a:r>
            <a:endParaRPr lang="ru-RU" dirty="0"/>
          </a:p>
        </p:txBody>
      </p:sp>
      <p:pic>
        <p:nvPicPr>
          <p:cNvPr id="5" name="Объект 4">
            <a:extLst>
              <a:ext uri="{FF2B5EF4-FFF2-40B4-BE49-F238E27FC236}">
                <a16:creationId xmlns:a16="http://schemas.microsoft.com/office/drawing/2014/main" id="{73D6DB3F-28B7-492D-B701-41E8401AA9D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98916" y="2054409"/>
            <a:ext cx="2381582" cy="1114581"/>
          </a:xfrm>
        </p:spPr>
      </p:pic>
      <p:pic>
        <p:nvPicPr>
          <p:cNvPr id="7" name="Рисунок 6" descr="Изображение выглядит как текст&#10;&#10;Автоматически созданное описание">
            <a:extLst>
              <a:ext uri="{FF2B5EF4-FFF2-40B4-BE49-F238E27FC236}">
                <a16:creationId xmlns:a16="http://schemas.microsoft.com/office/drawing/2014/main" id="{02A06A6F-3166-46BE-A45B-4CAFF286718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28357" y="2054409"/>
            <a:ext cx="3124636" cy="3372321"/>
          </a:xfrm>
          <a:prstGeom prst="rect">
            <a:avLst/>
          </a:prstGeom>
        </p:spPr>
      </p:pic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6A3AFE36-42A3-46FB-9A39-ABC4A32F896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00852" y="2054409"/>
            <a:ext cx="2946624" cy="4559421"/>
          </a:xfrm>
          <a:prstGeom prst="rect">
            <a:avLst/>
          </a:prstGeom>
        </p:spPr>
      </p:pic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5519ED5E-CBC2-4FF6-932E-E2EDC4B14214}"/>
              </a:ext>
            </a:extLst>
          </p:cNvPr>
          <p:cNvPicPr/>
          <p:nvPr/>
        </p:nvPicPr>
        <p:blipFill>
          <a:blip r:embed="rId5"/>
          <a:stretch>
            <a:fillRect/>
          </a:stretch>
        </p:blipFill>
        <p:spPr>
          <a:xfrm>
            <a:off x="1198916" y="3845755"/>
            <a:ext cx="2381582" cy="21258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627495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57A674B-12F8-47DC-9493-E51BAD18D9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9119" y="485761"/>
            <a:ext cx="10353761" cy="1326321"/>
          </a:xfrm>
        </p:spPr>
        <p:txBody>
          <a:bodyPr/>
          <a:lstStyle/>
          <a:p>
            <a:r>
              <a:rPr lang="ru-RU" dirty="0"/>
              <a:t>ТЕСТИРОВАНИЕ</a:t>
            </a:r>
          </a:p>
        </p:txBody>
      </p:sp>
      <p:pic>
        <p:nvPicPr>
          <p:cNvPr id="5" name="Объект 4" descr="Изображение выглядит как текст, снимок экрана, монитор, экран&#10;&#10;Автоматически созданное описание">
            <a:extLst>
              <a:ext uri="{FF2B5EF4-FFF2-40B4-BE49-F238E27FC236}">
                <a16:creationId xmlns:a16="http://schemas.microsoft.com/office/drawing/2014/main" id="{FACCB805-2282-47DF-B873-0BB9984C646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9224" y="1935921"/>
            <a:ext cx="7204838" cy="3695700"/>
          </a:xfrm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BF62AB65-6AB0-4A7C-81FD-676DFF1BE77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56279" y="1935921"/>
            <a:ext cx="4105848" cy="1695687"/>
          </a:xfrm>
          <a:prstGeom prst="rect">
            <a:avLst/>
          </a:prstGeom>
        </p:spPr>
      </p:pic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171328A3-60AD-443B-A67C-8BC29E8DCAA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56280" y="3879286"/>
            <a:ext cx="4105848" cy="15813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540339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525AA07-E8E1-4C01-A2E9-F0A3A6FB4B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Полученные выводы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5971E073-135C-4F43-AAD8-4A924716EAE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3795" y="2096063"/>
            <a:ext cx="10353762" cy="4065039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ru-RU" dirty="0"/>
              <a:t>В результате выполнения данного курсового проекта была спроектирована программа обеспечения интернет-магазина на языке высокого уровня C#, позволяющая наглядно продемонстрировать работу всех её компонентов. Полученные диаграммы позволяют детально изучить не только процесс машинного выполнения программы, но также и оценить процесс создания (проектирования и реализации) данного проекта. </a:t>
            </a:r>
          </a:p>
          <a:p>
            <a:pPr marL="0" indent="0">
              <a:buNone/>
            </a:pPr>
            <a:r>
              <a:rPr lang="ru-RU" dirty="0"/>
              <a:t>Благодаря детальному разбору проекта при помощи диаграмм проектирования, полученных в процессе разработки, можно с уверенностью сказать, что полученная программа обеспечения интернет-магазина полностью позволяет значительно упростить рабочую деятельность покупателей типичных предприятий в сфере интернет-магазинов.</a:t>
            </a:r>
          </a:p>
        </p:txBody>
      </p:sp>
    </p:spTree>
    <p:extLst>
      <p:ext uri="{BB962C8B-B14F-4D97-AF65-F5344CB8AC3E}">
        <p14:creationId xmlns:p14="http://schemas.microsoft.com/office/powerpoint/2010/main" val="298722181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6B9D95D-5207-4644-89B7-6C21B299C9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Рекомендации для развития приложения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C35E6059-49B1-4E39-B71B-969B5815B6F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ru-RU" sz="2800" dirty="0"/>
              <a:t>Программа имеет потенциал обрести больший функционал в последующих версиях, в виде более тонкой работы системы поиска и каталога.</a:t>
            </a:r>
          </a:p>
          <a:p>
            <a:pPr marL="0" indent="0">
              <a:buNone/>
            </a:pPr>
            <a:endParaRPr lang="ru-RU" sz="2800" dirty="0"/>
          </a:p>
          <a:p>
            <a:pPr marL="0" indent="0">
              <a:buNone/>
            </a:pPr>
            <a:r>
              <a:rPr lang="ru-RU" sz="2800" dirty="0"/>
              <a:t>На следующей стадии развития приложения программа имеет потенциал обладать версией для мобильных устройств на базе операционных систем </a:t>
            </a:r>
            <a:r>
              <a:rPr lang="ru-RU" sz="2800" dirty="0" err="1"/>
              <a:t>Android</a:t>
            </a:r>
            <a:r>
              <a:rPr lang="ru-RU" sz="2800" dirty="0"/>
              <a:t> и IOS.</a:t>
            </a:r>
          </a:p>
          <a:p>
            <a:pPr marL="0" indent="0">
              <a:buNone/>
            </a:pP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648498423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Damask">
  <a:themeElements>
    <a:clrScheme name="Damask">
      <a:dk1>
        <a:sysClr val="windowText" lastClr="000000"/>
      </a:dk1>
      <a:lt1>
        <a:sysClr val="window" lastClr="FFFFFF"/>
      </a:lt1>
      <a:dk2>
        <a:srgbClr val="2A5B7F"/>
      </a:dk2>
      <a:lt2>
        <a:srgbClr val="ABDAFC"/>
      </a:lt2>
      <a:accent1>
        <a:srgbClr val="9EC544"/>
      </a:accent1>
      <a:accent2>
        <a:srgbClr val="50BEA3"/>
      </a:accent2>
      <a:accent3>
        <a:srgbClr val="4A9CCC"/>
      </a:accent3>
      <a:accent4>
        <a:srgbClr val="9A66CA"/>
      </a:accent4>
      <a:accent5>
        <a:srgbClr val="C54F71"/>
      </a:accent5>
      <a:accent6>
        <a:srgbClr val="DE9C3C"/>
      </a:accent6>
      <a:hlink>
        <a:srgbClr val="6BA9DA"/>
      </a:hlink>
      <a:folHlink>
        <a:srgbClr val="A0BCD3"/>
      </a:folHlink>
    </a:clrScheme>
    <a:fontScheme name="Damask">
      <a:majorFont>
        <a:latin typeface="Bookman Old Style" panose="02050604050505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Rockwell" panose="020606030202050204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Damask">
      <a:fillStyleLst>
        <a:solidFill>
          <a:schemeClr val="phClr"/>
        </a:solidFill>
        <a:gradFill rotWithShape="1">
          <a:gsLst>
            <a:gs pos="0">
              <a:schemeClr val="phClr">
                <a:tint val="48000"/>
                <a:satMod val="105000"/>
                <a:lumMod val="110000"/>
              </a:schemeClr>
            </a:gs>
            <a:gs pos="100000">
              <a:schemeClr val="phClr">
                <a:tint val="78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0000"/>
                <a:lumMod val="104000"/>
              </a:schemeClr>
            </a:gs>
            <a:gs pos="69000">
              <a:schemeClr val="phClr">
                <a:shade val="86000"/>
                <a:satMod val="130000"/>
                <a:lumMod val="102000"/>
              </a:schemeClr>
            </a:gs>
            <a:gs pos="100000">
              <a:schemeClr val="phClr">
                <a:shade val="72000"/>
                <a:satMod val="130000"/>
                <a:lumMod val="100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38100" dir="5400000" sy="96000" rotWithShape="0">
              <a:srgbClr val="000000">
                <a:alpha val="54000"/>
              </a:srgbClr>
            </a:outerShdw>
          </a:effectLst>
        </a:effectStyle>
        <a:effectStyle>
          <a:effectLst>
            <a:outerShdw blurRad="76200" dist="38100" dir="5400000" algn="ctr" rotWithShape="0">
              <a:srgbClr val="000000">
                <a:alpha val="76000"/>
              </a:srgbClr>
            </a:outerShdw>
          </a:effectLst>
          <a:scene3d>
            <a:camera prst="orthographicFront">
              <a:rot lat="0" lon="0" rev="0"/>
            </a:camera>
            <a:lightRig rig="balanced" dir="t"/>
          </a:scene3d>
          <a:sp3d prstMaterial="matte">
            <a:bevelT w="25400" h="25400" prst="relaxedInse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shade val="18000"/>
                <a:satMod val="160000"/>
                <a:lumMod val="28000"/>
              </a:schemeClr>
              <a:schemeClr val="phClr">
                <a:tint val="95000"/>
                <a:satMod val="160000"/>
                <a:lumMod val="116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amask" id="{F9A299A0-33D0-4E0F-9F3F-7163E3744208}" vid="{746EEEEA-FB6A-406B-B510-531588D54811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422</Words>
  <Application>Microsoft Office PowerPoint</Application>
  <PresentationFormat>Широкоэкранный</PresentationFormat>
  <Paragraphs>35</Paragraphs>
  <Slides>22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22</vt:i4>
      </vt:variant>
    </vt:vector>
  </HeadingPairs>
  <TitlesOfParts>
    <vt:vector size="27" baseType="lpstr">
      <vt:lpstr>Arial</vt:lpstr>
      <vt:lpstr>Bookman Old Style</vt:lpstr>
      <vt:lpstr>Rockwell</vt:lpstr>
      <vt:lpstr>Times New Roman</vt:lpstr>
      <vt:lpstr>Damask</vt:lpstr>
      <vt:lpstr>ФГБОУ ВО «Кубанский государственный технологический университет» (ФГБОУ ВО«КубГТУ»)  Институт компьютерных систем и информационной безопасности. Кафедра информационных систем и программирования  Проектирование и реализация интернет-магазина.</vt:lpstr>
      <vt:lpstr>Цель проекта</vt:lpstr>
      <vt:lpstr>Диаграмма Ганта</vt:lpstr>
      <vt:lpstr>Сетевая диаграмма</vt:lpstr>
      <vt:lpstr>модели As-Is в стандарте IDEF0</vt:lpstr>
      <vt:lpstr>Модель As-Is проекта «Интернет магазин»</vt:lpstr>
      <vt:lpstr>Декомпозиция проекта «Интернет магазин»</vt:lpstr>
      <vt:lpstr>Декомпозиция организационной деятельности</vt:lpstr>
      <vt:lpstr>Декомпозиция процесса разработки</vt:lpstr>
      <vt:lpstr>Реализация программы</vt:lpstr>
      <vt:lpstr>Декомпозиция процесса главного меню магазина.</vt:lpstr>
      <vt:lpstr>Декомпозиция процесса поиска товара.</vt:lpstr>
      <vt:lpstr>Декомпозиция процесса изменения БД товара.</vt:lpstr>
      <vt:lpstr>Декомпозиция процесса меню корзины</vt:lpstr>
      <vt:lpstr>Декомпозиция процесса оформления заказа</vt:lpstr>
      <vt:lpstr>Диаграмма IDEF3 проекта «Интернет магазин»</vt:lpstr>
      <vt:lpstr>Презентация PowerPoint</vt:lpstr>
      <vt:lpstr>Диаграмма IDEF1X</vt:lpstr>
      <vt:lpstr>Финальный пользовательский интерфейс</vt:lpstr>
      <vt:lpstr>ТЕСТИРОВАНИЕ</vt:lpstr>
      <vt:lpstr>Полученные выводы</vt:lpstr>
      <vt:lpstr>Рекомендации для развития приложения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ФГБОУ ВО «Кубанский государственный технологический университет» (ФГБОУ ВО«КубГТУ»)  Институт компьютерных систем и информационной безопасности. Кафедра информационных систем и программирования  Проектирование и реализация интернет-магазина.</dc:title>
  <dc:creator>Даниил Диденко</dc:creator>
  <cp:lastModifiedBy>Даниил Диденко</cp:lastModifiedBy>
  <cp:revision>2</cp:revision>
  <dcterms:created xsi:type="dcterms:W3CDTF">2020-12-29T11:24:26Z</dcterms:created>
  <dcterms:modified xsi:type="dcterms:W3CDTF">2020-12-29T11:32:24Z</dcterms:modified>
</cp:coreProperties>
</file>